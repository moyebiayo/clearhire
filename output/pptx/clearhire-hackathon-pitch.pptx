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D7A5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114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A7B5C9"/>
                </a:solidFill>
                <a:latin typeface="Aptos"/>
              </a:rPr>
              <a:t>AI BUILD FEST 2026  /  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68580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7FB"/>
                </a:solidFill>
                <a:latin typeface="Aptos"/>
              </a:rPr>
              <a:t>Hiring should not
be a memory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24612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7B5C9"/>
                </a:solidFill>
                <a:latin typeface="Aptos"/>
              </a:rPr>
              <a:t>ClearHire helps growing teams read every application fairly, explain the ranking, and close the loop with every candidate.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188720"/>
            <a:ext cx="3246120" cy="347472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002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CONTROL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5F7FB"/>
                </a:solidFill>
                <a:latin typeface="Aptos"/>
              </a:rPr>
              <a:t>Score merit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5420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C78FF"/>
                </a:solidFill>
                <a:latin typeface="Aptos"/>
              </a:rPr>
              <a:t>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3090672"/>
            <a:ext cx="2651760" cy="2540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429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Reveal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7D7A5"/>
                </a:solidFill>
                <a:latin typeface="Aptos"/>
              </a:rPr>
              <a:t>second.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31596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Then let a human decide.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THE COST OF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Recruiters do not have a screening problem. They have a consistency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When applications pile up, the process degrades in predictable 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57600"/>
            <a:ext cx="3310128" cy="182880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2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8F7A"/>
                </a:solidFill>
                <a:latin typeface="Aptos"/>
              </a:rPr>
              <a:t>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65192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A realistic SME role can attract more candidates than one person can properly 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657600"/>
            <a:ext cx="3310128" cy="182880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13632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7C78FF"/>
                </a:solidFill>
                <a:latin typeface="Apto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72000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CVs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965192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Fatigue turns a structured decision into a first-impression contest.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3657600"/>
            <a:ext cx="3310128" cy="182880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913632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47D7A5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65192"/>
            <a:ext cx="27980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Rejected candidates often receive silence instead of a clear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THE PRODUCT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Do not automate the hiring decision. Automate the noise around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ClearHire keeps judgment human while making the repeatable work structured, explainable, and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Blind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1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Score only job-relevant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71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78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22191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Show gaps against the rubric.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8F7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Reveal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22191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Connect the score to a person only after.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71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7FB"/>
                </a:solidFill>
                <a:latin typeface="Aptos"/>
              </a:rPr>
              <a:t>Follow 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822191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Schedule, remind, and close the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81360" cy="566928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52297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5F7FB"/>
                </a:solidFill>
                <a:latin typeface="Aptos"/>
              </a:rPr>
              <a:t>The score is a decision aid, not a decision-maker.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ONE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From inbox to interview, without losing the human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A single candidate record carries the process from raw CV to final conversation.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00400"/>
            <a:ext cx="1965960" cy="17373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456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47D7A5"/>
                </a:solidFill>
                <a:latin typeface="Aptos"/>
              </a:rPr>
              <a:t>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58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Upload or Gmail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PDF / DOCX
private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858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7C78FF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5" y="3200400"/>
            <a:ext cx="1965960" cy="17373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3456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47D7A5"/>
                </a:solidFill>
                <a:latin typeface="Aptos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858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structured
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7" y="3858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7C78FF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3200400"/>
            <a:ext cx="1965960" cy="17373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1" y="3456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47D7A5"/>
                </a:solidFill>
                <a:latin typeface="Aptos"/>
              </a:rPr>
              <a:t>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3858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Score blind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weighted rubric
+ gap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5" y="3858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7C78FF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3200400"/>
            <a:ext cx="1965960" cy="17373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456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47D7A5"/>
                </a:solidFill>
                <a:latin typeface="Aptos"/>
              </a:rPr>
              <a:t>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858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timezone + ICS
4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858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7C78FF"/>
                </a:solidFill>
                <a:latin typeface="Apto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3200400"/>
            <a:ext cx="1965960" cy="17373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3456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47D7A5"/>
                </a:solidFill>
                <a:latin typeface="Aptos"/>
              </a:rPr>
              <a:t>CLOSE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858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scorecard
respectful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321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One job. One rubric. One explainable shortlist. One place to keep the promise to candidates.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THE DEFENSIBLE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BLIND BY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The model never receives the identity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This is not a blurred table. The blind boundary is enforced where the scoring payload is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71800"/>
            <a:ext cx="4937760" cy="24231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SENT TO THE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675887"/>
            <a:ext cx="3017520" cy="2743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749039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059935"/>
            <a:ext cx="3017520" cy="2743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133087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experience_years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443983"/>
            <a:ext cx="3017520" cy="2743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517136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certifications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828031"/>
            <a:ext cx="3017520" cy="2743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901183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971800"/>
            <a:ext cx="5303520" cy="2423160"/>
          </a:xfrm>
          <a:prstGeom prst="roundRect">
            <a:avLst/>
          </a:prstGeom>
          <a:solidFill>
            <a:srgbClr val="241B2A"/>
          </a:solidFill>
          <a:ln w="12700">
            <a:solidFill>
              <a:srgbClr val="633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3101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8F7A"/>
                </a:solidFill>
                <a:latin typeface="Aptos"/>
              </a:rPr>
              <a:t>NEVER 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75887"/>
            <a:ext cx="1828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F7A"/>
                </a:solidFill>
                <a:latin typeface="Aptos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30752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59935"/>
            <a:ext cx="1828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F7A"/>
                </a:solidFill>
                <a:latin typeface="Aptos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114800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43983"/>
            <a:ext cx="1828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F7A"/>
                </a:solidFill>
                <a:latin typeface="Aptos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49884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school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28031"/>
            <a:ext cx="1828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8F7A"/>
                </a:solidFill>
                <a:latin typeface="Aptos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882896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7FB"/>
                </a:solidFill>
                <a:latin typeface="Aptos"/>
              </a:rPr>
              <a:t>photo / identity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THE MONEY MOMENT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The reveal is the moment judges remember.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Show the score before the name. Then prove the rest of the workflow is already connected.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26080"/>
            <a:ext cx="6400800" cy="251460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RANKED SHORTLIST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959352"/>
            <a:ext cx="5760720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3685032"/>
            <a:ext cx="201168" cy="201168"/>
          </a:xfrm>
          <a:prstGeom prst="ellipse">
            <a:avLst/>
          </a:prstGeom>
          <a:solidFill>
            <a:srgbClr val="47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21607"/>
            <a:ext cx="457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7111F"/>
                </a:solidFill>
                <a:latin typeface="Aptos"/>
              </a:rPr>
              <a:t>#1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03320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7FB"/>
                </a:solidFill>
                <a:latin typeface="Aptos"/>
              </a:rPr>
              <a:t>Candidate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04487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7B5C9"/>
                </a:solidFill>
                <a:latin typeface="Aptos"/>
              </a:rPr>
              <a:t>blind score · gaps · rationale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7307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F5F7FB"/>
                </a:solidFill>
                <a:latin typeface="Aptos"/>
              </a:rPr>
              <a:t>91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489704"/>
            <a:ext cx="5760720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4215384"/>
            <a:ext cx="201168" cy="201168"/>
          </a:xfrm>
          <a:prstGeom prst="ellipse">
            <a:avLst/>
          </a:prstGeom>
          <a:solidFill>
            <a:srgbClr val="7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51959"/>
            <a:ext cx="457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7111F"/>
                </a:solidFill>
                <a:latin typeface="Aptos"/>
              </a:rPr>
              <a:t>#2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33672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7FB"/>
                </a:solidFill>
                <a:latin typeface="Aptos"/>
              </a:rPr>
              <a:t>Candidate 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34840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7B5C9"/>
                </a:solidFill>
                <a:latin typeface="Aptos"/>
              </a:rPr>
              <a:t>blind score · gaps ·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26110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F5F7FB"/>
                </a:solidFill>
                <a:latin typeface="Aptos"/>
              </a:rPr>
              <a:t>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5020056"/>
            <a:ext cx="5760720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" y="4745736"/>
            <a:ext cx="201168" cy="201168"/>
          </a:xfrm>
          <a:prstGeom prst="ellipse">
            <a:avLst/>
          </a:prstGeom>
          <a:solidFill>
            <a:srgbClr val="FF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782312"/>
            <a:ext cx="457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7111F"/>
                </a:solidFill>
                <a:latin typeface="Aptos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64024"/>
            <a:ext cx="91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F7FB"/>
                </a:solidFill>
                <a:latin typeface="Aptos"/>
              </a:rPr>
              <a:t>Candidate 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965192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A7B5C9"/>
                </a:solidFill>
                <a:latin typeface="Aptos"/>
              </a:rPr>
              <a:t>blind score · gaps ·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79145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1">
                <a:solidFill>
                  <a:srgbClr val="F5F7FB"/>
                </a:solidFill>
                <a:latin typeface="Aptos"/>
              </a:rPr>
              <a:t>83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926080"/>
            <a:ext cx="4005072" cy="251460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2461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REVEAL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730752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5F7FB"/>
                </a:solidFill>
                <a:latin typeface="Aptos"/>
              </a:rPr>
              <a:t>The score was locked before anyone connected it to a person.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645152"/>
            <a:ext cx="3337560" cy="2540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9194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Then: schedule · remind · compare · close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PROOF, NOT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We built the trust story into the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The winning claim is not that AI is perfect. It is that the workflow is inspectable, bounded, and human-controlled.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46120"/>
            <a:ext cx="2578608" cy="214884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47D7A5"/>
                </a:solidFill>
                <a:latin typeface="Aptos"/>
              </a:rPr>
              <a:t>RLS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0665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Cross-tenant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53712"/>
            <a:ext cx="20665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Tenant B could not read, update, or delete Tenant A's job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246120"/>
            <a:ext cx="2578608" cy="214884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3502152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7C78FF"/>
                </a:solidFill>
                <a:latin typeface="Aptos"/>
              </a:rPr>
              <a:t>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4160520"/>
            <a:ext cx="20665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Reminder cadence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553712"/>
            <a:ext cx="20665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2 days, 1 day, 12 hours, and 2 hours from the confirmed interview.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3246120"/>
            <a:ext cx="2578608" cy="214884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502152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8F7A"/>
                </a:solidFill>
                <a:latin typeface="Aptos"/>
              </a:rPr>
              <a:t>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160520"/>
            <a:ext cx="20665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Blind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553712"/>
            <a:ext cx="20665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Every scoring call records only four job-relevant fields.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4" y="3246120"/>
            <a:ext cx="2578608" cy="214884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3502152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47D7A5"/>
                </a:solidFill>
                <a:latin typeface="Aptos"/>
              </a:rPr>
              <a:t>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4160520"/>
            <a:ext cx="20665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B"/>
                </a:solidFill>
                <a:latin typeface="Aptos"/>
              </a:rPr>
              <a:t>CV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4553712"/>
            <a:ext cx="206654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Private bucket with short-lived signed download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WHY THIS CAN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Not another ATS. A fairness-and-follow-through layer for teams that have outgrown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ClearHire is deliberately narrow: make screening more consistent, then carry the candidate through the moments that usually break.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166360" cy="233172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7B5C9"/>
                </a:solidFill>
                <a:latin typeface="Aptos"/>
              </a:rPr>
              <a:t>BROAD 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404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7FB"/>
                </a:solidFill>
                <a:latin typeface="Aptos"/>
              </a:rPr>
              <a:t>Many modules.
Heavy implementation.
AI as a feature.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017520"/>
            <a:ext cx="5166360" cy="2331720"/>
          </a:xfrm>
          <a:prstGeom prst="roundRect">
            <a:avLst/>
          </a:prstGeom>
          <a:solidFill>
            <a:srgbClr val="12243A"/>
          </a:solidFill>
          <a:ln w="12700">
            <a:solidFill>
              <a:srgbClr val="7C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CLEARHIRE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404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5F7FB"/>
                </a:solidFill>
                <a:latin typeface="Aptos"/>
              </a:rPr>
              <a:t>Inbox-native intake.
Blind-score-then-reveal.
Reminders tuned for no-shows.
Human decision stays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A7B5C9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473952"/>
            <a:ext cx="11128248" cy="1524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56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A7B5C9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77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A CREDIBLE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33271"/>
            <a:ext cx="74980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7FB"/>
                </a:solidFill>
                <a:latin typeface="Aptos"/>
              </a:rPr>
              <a:t>Win the first hiring workflow. Expand from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7B5C9"/>
                </a:solidFill>
                <a:latin typeface="Aptos"/>
              </a:rPr>
              <a:t>The initial customer is an SME recruiter who needs speed and consistency, not another six-month implementation.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91840"/>
            <a:ext cx="146304" cy="146304"/>
          </a:xfrm>
          <a:prstGeom prst="ellipse">
            <a:avLst/>
          </a:prstGeom>
          <a:solidFill>
            <a:srgbClr val="47D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3101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29184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SME recruiting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5387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CV intake, blind ranking, scheduling, closure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69080"/>
            <a:ext cx="146304" cy="146304"/>
          </a:xfrm>
          <a:prstGeom prst="ellipse">
            <a:avLst/>
          </a:prstGeom>
          <a:solidFill>
            <a:srgbClr val="7C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08736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78FF"/>
                </a:solidFill>
                <a:latin typeface="Apto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069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Agencies and hiring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3159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shared templates, analytics, candidate exams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846320"/>
            <a:ext cx="146304" cy="146304"/>
          </a:xfrm>
          <a:prstGeom prst="ellipse">
            <a:avLst/>
          </a:prstGeom>
          <a:solidFill>
            <a:srgbClr val="FF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864607"/>
            <a:ext cx="9144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8F7A"/>
                </a:solidFill>
                <a:latin typeface="Aptos"/>
              </a:rP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8463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7FB"/>
                </a:solidFill>
                <a:latin typeface="Aptos"/>
              </a:rPr>
              <a:t>Hiring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0932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audit trails, integrations, team workflows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063240"/>
            <a:ext cx="3931920" cy="196596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3832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THE NORTH STAR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84048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5F7FB"/>
                </a:solidFill>
                <a:latin typeface="Aptos"/>
              </a:rPr>
              <a:t>Every candidate gets a fair read, a clear next step, and a respectful close.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D7A5"/>
                </a:solidFill>
                <a:latin typeface="Aptos"/>
              </a:rPr>
              <a:t>CLEARHIRE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700" b="1">
                <a:solidFill>
                  <a:srgbClr val="F5F7FB"/>
                </a:solidFill>
                <a:latin typeface="Aptos"/>
              </a:rPr>
              <a:t>The best candidate
should not be the
first CV opened.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4290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A7B5C9"/>
                </a:solidFill>
                <a:latin typeface="Aptos"/>
              </a:rPr>
              <a:t>Score merit first. Reveal identity second. Keep the human in the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71600"/>
            <a:ext cx="3246120" cy="3246120"/>
          </a:xfrm>
          <a:prstGeom prst="roundRect">
            <a:avLst/>
          </a:prstGeom>
          <a:solidFill>
            <a:srgbClr val="0D1B2D"/>
          </a:solidFill>
          <a:ln w="12700">
            <a:solidFill>
              <a:srgbClr val="20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7830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7D7A5"/>
                </a:solidFill>
                <a:latin typeface="Aptos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68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5F7FB"/>
                </a:solidFill>
                <a:latin typeface="Aptos"/>
              </a:rPr>
              <a:t>clearhire-rho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8529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C78FF"/>
                </a:solidFill>
                <a:latin typeface="Aptos"/>
              </a:rPr>
              <a:t>.vercel.app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3383280"/>
            <a:ext cx="2560319" cy="25400"/>
          </a:xfrm>
          <a:prstGeom prst="rect">
            <a:avLst/>
          </a:prstGeom>
          <a:solidFill>
            <a:srgbClr val="20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5C9"/>
                </a:solidFill>
                <a:latin typeface="Aptos"/>
              </a:rPr>
              <a:t>AI BuildFest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0416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7B5C9"/>
                </a:solidFill>
                <a:latin typeface="Aptos"/>
              </a:rPr>
              <a:t>Track 1 · AI for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